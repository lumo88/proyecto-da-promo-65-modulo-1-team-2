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ress Start 2P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2" Target="../media/image2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8.png" Type="http://schemas.openxmlformats.org/officeDocument/2006/relationships/image"/><Relationship Id="rId5" Target="../media/image27.png" Type="http://schemas.openxmlformats.org/officeDocument/2006/relationships/image"/><Relationship Id="rId6" Target="../media/image2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41.png" Type="http://schemas.openxmlformats.org/officeDocument/2006/relationships/image"/><Relationship Id="rId2" Target="../media/image2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13" Target="../media/image46.png" Type="http://schemas.openxmlformats.org/officeDocument/2006/relationships/image"/><Relationship Id="rId14" Target="../media/image47.svg" Type="http://schemas.openxmlformats.org/officeDocument/2006/relationships/image"/><Relationship Id="rId15" Target="../media/image48.png" Type="http://schemas.openxmlformats.org/officeDocument/2006/relationships/image"/><Relationship Id="rId16" Target="../media/image49.svg" Type="http://schemas.openxmlformats.org/officeDocument/2006/relationships/image"/><Relationship Id="rId17" Target="../media/image50.png" Type="http://schemas.openxmlformats.org/officeDocument/2006/relationships/image"/><Relationship Id="rId18" Target="../media/image51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7.pn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0600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0" y="0"/>
                </a:moveTo>
                <a:lnTo>
                  <a:pt x="1863345" y="0"/>
                </a:lnTo>
                <a:lnTo>
                  <a:pt x="1863345" y="863915"/>
                </a:lnTo>
                <a:lnTo>
                  <a:pt x="0" y="863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854055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1863345" y="0"/>
                </a:moveTo>
                <a:lnTo>
                  <a:pt x="0" y="0"/>
                </a:lnTo>
                <a:lnTo>
                  <a:pt x="0" y="863915"/>
                </a:lnTo>
                <a:lnTo>
                  <a:pt x="1863345" y="863915"/>
                </a:lnTo>
                <a:lnTo>
                  <a:pt x="1863345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1133" y="5409277"/>
            <a:ext cx="1735697" cy="4114800"/>
          </a:xfrm>
          <a:custGeom>
            <a:avLst/>
            <a:gdLst/>
            <a:ahLst/>
            <a:cxnLst/>
            <a:rect r="r" b="b" t="t" l="l"/>
            <a:pathLst>
              <a:path h="4114800" w="1735697">
                <a:moveTo>
                  <a:pt x="0" y="0"/>
                </a:moveTo>
                <a:lnTo>
                  <a:pt x="1735697" y="0"/>
                </a:lnTo>
                <a:lnTo>
                  <a:pt x="17356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91170" y="5383106"/>
            <a:ext cx="1735697" cy="4114800"/>
          </a:xfrm>
          <a:custGeom>
            <a:avLst/>
            <a:gdLst/>
            <a:ahLst/>
            <a:cxnLst/>
            <a:rect r="r" b="b" t="t" l="l"/>
            <a:pathLst>
              <a:path h="4114800" w="1735697">
                <a:moveTo>
                  <a:pt x="0" y="0"/>
                </a:moveTo>
                <a:lnTo>
                  <a:pt x="1735697" y="0"/>
                </a:lnTo>
                <a:lnTo>
                  <a:pt x="17356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95909" y="1943279"/>
            <a:ext cx="7805691" cy="6691006"/>
          </a:xfrm>
          <a:custGeom>
            <a:avLst/>
            <a:gdLst/>
            <a:ahLst/>
            <a:cxnLst/>
            <a:rect r="r" b="b" t="t" l="l"/>
            <a:pathLst>
              <a:path h="6691006" w="7805691">
                <a:moveTo>
                  <a:pt x="0" y="0"/>
                </a:moveTo>
                <a:lnTo>
                  <a:pt x="7805691" y="0"/>
                </a:lnTo>
                <a:lnTo>
                  <a:pt x="7805691" y="6691006"/>
                </a:lnTo>
                <a:lnTo>
                  <a:pt x="0" y="66910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1665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5383106"/>
            <a:ext cx="1533698" cy="4114800"/>
          </a:xfrm>
          <a:custGeom>
            <a:avLst/>
            <a:gdLst/>
            <a:ahLst/>
            <a:cxnLst/>
            <a:rect r="r" b="b" t="t" l="l"/>
            <a:pathLst>
              <a:path h="4114800" w="1533698">
                <a:moveTo>
                  <a:pt x="0" y="0"/>
                </a:moveTo>
                <a:lnTo>
                  <a:pt x="1533698" y="0"/>
                </a:lnTo>
                <a:lnTo>
                  <a:pt x="1533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757920" y="5409277"/>
            <a:ext cx="1533698" cy="4114800"/>
          </a:xfrm>
          <a:custGeom>
            <a:avLst/>
            <a:gdLst/>
            <a:ahLst/>
            <a:cxnLst/>
            <a:rect r="r" b="b" t="t" l="l"/>
            <a:pathLst>
              <a:path h="4114800" w="1533698">
                <a:moveTo>
                  <a:pt x="0" y="0"/>
                </a:moveTo>
                <a:lnTo>
                  <a:pt x="1533698" y="0"/>
                </a:lnTo>
                <a:lnTo>
                  <a:pt x="1533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16863" y="693762"/>
            <a:ext cx="17671137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PROYECTO: 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JUEGOS CLÁSICOS EN PYTHON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27273" y="3780456"/>
            <a:ext cx="5014403" cy="758837"/>
            <a:chOff x="0" y="0"/>
            <a:chExt cx="5253089" cy="7949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53089" cy="794957"/>
            </a:xfrm>
            <a:custGeom>
              <a:avLst/>
              <a:gdLst/>
              <a:ahLst/>
              <a:cxnLst/>
              <a:rect r="r" b="b" t="t" l="l"/>
              <a:pathLst>
                <a:path h="794957" w="5253089">
                  <a:moveTo>
                    <a:pt x="154394" y="0"/>
                  </a:moveTo>
                  <a:lnTo>
                    <a:pt x="5098695" y="0"/>
                  </a:lnTo>
                  <a:cubicBezTo>
                    <a:pt x="5139643" y="0"/>
                    <a:pt x="5178914" y="16266"/>
                    <a:pt x="5207868" y="45221"/>
                  </a:cubicBezTo>
                  <a:cubicBezTo>
                    <a:pt x="5236823" y="74175"/>
                    <a:pt x="5253089" y="113446"/>
                    <a:pt x="5253089" y="154394"/>
                  </a:cubicBezTo>
                  <a:lnTo>
                    <a:pt x="5253089" y="640564"/>
                  </a:lnTo>
                  <a:cubicBezTo>
                    <a:pt x="5253089" y="725833"/>
                    <a:pt x="5183965" y="794957"/>
                    <a:pt x="5098695" y="794957"/>
                  </a:cubicBezTo>
                  <a:lnTo>
                    <a:pt x="154394" y="794957"/>
                  </a:lnTo>
                  <a:cubicBezTo>
                    <a:pt x="113446" y="794957"/>
                    <a:pt x="74175" y="778691"/>
                    <a:pt x="45221" y="749737"/>
                  </a:cubicBezTo>
                  <a:cubicBezTo>
                    <a:pt x="16266" y="720782"/>
                    <a:pt x="0" y="681511"/>
                    <a:pt x="0" y="640564"/>
                  </a:cubicBezTo>
                  <a:lnTo>
                    <a:pt x="0" y="154394"/>
                  </a:lnTo>
                  <a:cubicBezTo>
                    <a:pt x="0" y="113446"/>
                    <a:pt x="16266" y="74175"/>
                    <a:pt x="45221" y="45221"/>
                  </a:cubicBezTo>
                  <a:cubicBezTo>
                    <a:pt x="74175" y="16266"/>
                    <a:pt x="113446" y="0"/>
                    <a:pt x="154394" y="0"/>
                  </a:cubicBezTo>
                  <a:close/>
                </a:path>
              </a:pathLst>
            </a:custGeom>
            <a:solidFill>
              <a:srgbClr val="007D2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253089" cy="833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97195" y="5084145"/>
            <a:ext cx="1865898" cy="186589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490" t="0" r="-1020" b="-251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012956" y="5084145"/>
            <a:ext cx="1865898" cy="186589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041" t="-1020" r="-2622" b="-364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928717" y="5084145"/>
            <a:ext cx="1865898" cy="186589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041" t="0" r="-828" b="-430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44478" y="5084145"/>
            <a:ext cx="1865898" cy="186589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020" t="-510" r="-1849" b="-304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60238" y="5084145"/>
            <a:ext cx="1865898" cy="186589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3062" t="-2552" r="-2911" b="-7688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5196481" y="6457466"/>
            <a:ext cx="3352799" cy="3352799"/>
          </a:xfrm>
          <a:custGeom>
            <a:avLst/>
            <a:gdLst/>
            <a:ahLst/>
            <a:cxnLst/>
            <a:rect r="r" b="b" t="t" l="l"/>
            <a:pathLst>
              <a:path h="3352799" w="3352799">
                <a:moveTo>
                  <a:pt x="0" y="0"/>
                </a:moveTo>
                <a:lnTo>
                  <a:pt x="3352799" y="0"/>
                </a:lnTo>
                <a:lnTo>
                  <a:pt x="3352799" y="3352799"/>
                </a:lnTo>
                <a:lnTo>
                  <a:pt x="0" y="33527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89466" y="3483588"/>
            <a:ext cx="1055705" cy="1055705"/>
          </a:xfrm>
          <a:custGeom>
            <a:avLst/>
            <a:gdLst/>
            <a:ahLst/>
            <a:cxnLst/>
            <a:rect r="r" b="b" t="t" l="l"/>
            <a:pathLst>
              <a:path h="1055705" w="1055705">
                <a:moveTo>
                  <a:pt x="0" y="0"/>
                </a:moveTo>
                <a:lnTo>
                  <a:pt x="1055705" y="0"/>
                </a:lnTo>
                <a:lnTo>
                  <a:pt x="1055705" y="1055705"/>
                </a:lnTo>
                <a:lnTo>
                  <a:pt x="0" y="10557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345306" y="3399322"/>
            <a:ext cx="1055148" cy="1055148"/>
          </a:xfrm>
          <a:custGeom>
            <a:avLst/>
            <a:gdLst/>
            <a:ahLst/>
            <a:cxnLst/>
            <a:rect r="r" b="b" t="t" l="l"/>
            <a:pathLst>
              <a:path h="1055148" w="1055148">
                <a:moveTo>
                  <a:pt x="0" y="0"/>
                </a:moveTo>
                <a:lnTo>
                  <a:pt x="1055148" y="0"/>
                </a:lnTo>
                <a:lnTo>
                  <a:pt x="1055148" y="1055149"/>
                </a:lnTo>
                <a:lnTo>
                  <a:pt x="0" y="10551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273337" y="8606096"/>
            <a:ext cx="1905566" cy="1029006"/>
          </a:xfrm>
          <a:custGeom>
            <a:avLst/>
            <a:gdLst/>
            <a:ahLst/>
            <a:cxnLst/>
            <a:rect r="r" b="b" t="t" l="l"/>
            <a:pathLst>
              <a:path h="1029006" w="1905566">
                <a:moveTo>
                  <a:pt x="0" y="0"/>
                </a:moveTo>
                <a:lnTo>
                  <a:pt x="1905566" y="0"/>
                </a:lnTo>
                <a:lnTo>
                  <a:pt x="1905566" y="1029006"/>
                </a:lnTo>
                <a:lnTo>
                  <a:pt x="0" y="10290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75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226120" y="467483"/>
            <a:ext cx="9930133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¿QUIÉNES SOMOS?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468" y="1672123"/>
            <a:ext cx="18075064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Somos Alana Tech, equipo de analistas especializadas en Python, trabajando con metodología Scrum para crear experiencias basadas en juegos clásicos.</a:t>
            </a:r>
          </a:p>
          <a:p>
            <a:pPr algn="ctr">
              <a:lnSpc>
                <a:spcPts val="350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6657707" y="3877233"/>
            <a:ext cx="500301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Integrantes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02746" y="7188986"/>
            <a:ext cx="3114297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ANA Mª.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GARCIA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SCRUM TEAM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Analista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7150067"/>
            <a:ext cx="3425652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ALIRIS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ESCOBAR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Scrum Master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Analista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65438" y="7188986"/>
            <a:ext cx="2630933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NATALIA IBARLUCEA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SCRUM TEAM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Analista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21392" y="7150067"/>
            <a:ext cx="2388941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ANA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MARIN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SCRUM TEAM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Analista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85757" y="7150067"/>
            <a:ext cx="2414860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LOURDES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MOYA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SCRUM TEAM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Analista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158" y="6642385"/>
            <a:ext cx="2686186" cy="3370900"/>
          </a:xfrm>
          <a:custGeom>
            <a:avLst/>
            <a:gdLst/>
            <a:ahLst/>
            <a:cxnLst/>
            <a:rect r="r" b="b" t="t" l="l"/>
            <a:pathLst>
              <a:path h="3370900" w="2686186">
                <a:moveTo>
                  <a:pt x="0" y="0"/>
                </a:moveTo>
                <a:lnTo>
                  <a:pt x="2686186" y="0"/>
                </a:lnTo>
                <a:lnTo>
                  <a:pt x="2686186" y="3370900"/>
                </a:lnTo>
                <a:lnTo>
                  <a:pt x="0" y="337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81075" y="1902228"/>
            <a:ext cx="803498" cy="1492986"/>
          </a:xfrm>
          <a:custGeom>
            <a:avLst/>
            <a:gdLst/>
            <a:ahLst/>
            <a:cxnLst/>
            <a:rect r="r" b="b" t="t" l="l"/>
            <a:pathLst>
              <a:path h="1492986" w="803498">
                <a:moveTo>
                  <a:pt x="803498" y="0"/>
                </a:moveTo>
                <a:lnTo>
                  <a:pt x="0" y="0"/>
                </a:lnTo>
                <a:lnTo>
                  <a:pt x="0" y="1492986"/>
                </a:lnTo>
                <a:lnTo>
                  <a:pt x="803498" y="1492986"/>
                </a:lnTo>
                <a:lnTo>
                  <a:pt x="80349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50601" y="2130717"/>
            <a:ext cx="673632" cy="1264497"/>
          </a:xfrm>
          <a:custGeom>
            <a:avLst/>
            <a:gdLst/>
            <a:ahLst/>
            <a:cxnLst/>
            <a:rect r="r" b="b" t="t" l="l"/>
            <a:pathLst>
              <a:path h="1264497" w="673632">
                <a:moveTo>
                  <a:pt x="0" y="0"/>
                </a:moveTo>
                <a:lnTo>
                  <a:pt x="673632" y="0"/>
                </a:lnTo>
                <a:lnTo>
                  <a:pt x="673632" y="1264497"/>
                </a:lnTo>
                <a:lnTo>
                  <a:pt x="0" y="1264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59344" y="1305963"/>
            <a:ext cx="13348631" cy="271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199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Nuestro cliente es una empresa especializada en juegos clásicos que busca ampliar su catálogo incorporando nuevos títulos desarrollados en Python, manteniendo su esencia retro y potenciando su presencia digital.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96481" y="6457466"/>
            <a:ext cx="3352799" cy="3352799"/>
          </a:xfrm>
          <a:custGeom>
            <a:avLst/>
            <a:gdLst/>
            <a:ahLst/>
            <a:cxnLst/>
            <a:rect r="r" b="b" t="t" l="l"/>
            <a:pathLst>
              <a:path h="3352799" w="3352799">
                <a:moveTo>
                  <a:pt x="0" y="0"/>
                </a:moveTo>
                <a:lnTo>
                  <a:pt x="3352799" y="0"/>
                </a:lnTo>
                <a:lnTo>
                  <a:pt x="3352799" y="3352799"/>
                </a:lnTo>
                <a:lnTo>
                  <a:pt x="0" y="33527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444202">
            <a:off x="16335375" y="3575399"/>
            <a:ext cx="907953" cy="1099632"/>
          </a:xfrm>
          <a:custGeom>
            <a:avLst/>
            <a:gdLst/>
            <a:ahLst/>
            <a:cxnLst/>
            <a:rect r="r" b="b" t="t" l="l"/>
            <a:pathLst>
              <a:path h="1099632" w="907953">
                <a:moveTo>
                  <a:pt x="0" y="0"/>
                </a:moveTo>
                <a:lnTo>
                  <a:pt x="907953" y="0"/>
                </a:lnTo>
                <a:lnTo>
                  <a:pt x="907953" y="1099632"/>
                </a:lnTo>
                <a:lnTo>
                  <a:pt x="0" y="1099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58020">
            <a:off x="15447594" y="3740716"/>
            <a:ext cx="883337" cy="1108338"/>
          </a:xfrm>
          <a:custGeom>
            <a:avLst/>
            <a:gdLst/>
            <a:ahLst/>
            <a:cxnLst/>
            <a:rect r="r" b="b" t="t" l="l"/>
            <a:pathLst>
              <a:path h="1108338" w="883337">
                <a:moveTo>
                  <a:pt x="0" y="0"/>
                </a:moveTo>
                <a:lnTo>
                  <a:pt x="883337" y="0"/>
                </a:lnTo>
                <a:lnTo>
                  <a:pt x="883337" y="1108339"/>
                </a:lnTo>
                <a:lnTo>
                  <a:pt x="0" y="11083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89263" y="3764683"/>
            <a:ext cx="759615" cy="678228"/>
          </a:xfrm>
          <a:custGeom>
            <a:avLst/>
            <a:gdLst/>
            <a:ahLst/>
            <a:cxnLst/>
            <a:rect r="r" b="b" t="t" l="l"/>
            <a:pathLst>
              <a:path h="678228" w="759615">
                <a:moveTo>
                  <a:pt x="0" y="0"/>
                </a:moveTo>
                <a:lnTo>
                  <a:pt x="759615" y="0"/>
                </a:lnTo>
                <a:lnTo>
                  <a:pt x="759615" y="678227"/>
                </a:lnTo>
                <a:lnTo>
                  <a:pt x="0" y="6782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51469" y="288925"/>
            <a:ext cx="7565265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CONTEXTO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53170" y="5326341"/>
            <a:ext cx="13454805" cy="381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Juegos completamente funcionales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Lógica clara y estructurada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Código organizado y mantenible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Llevar juegos educativos clásicos al mundo digital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Mantener estética retro y conectar con la nostalgia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41140" y="4338135"/>
            <a:ext cx="5985061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SOLICITUD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1310" y="6457466"/>
            <a:ext cx="2686186" cy="3370900"/>
          </a:xfrm>
          <a:custGeom>
            <a:avLst/>
            <a:gdLst/>
            <a:ahLst/>
            <a:cxnLst/>
            <a:rect r="r" b="b" t="t" l="l"/>
            <a:pathLst>
              <a:path h="3370900" w="2686186">
                <a:moveTo>
                  <a:pt x="0" y="0"/>
                </a:moveTo>
                <a:lnTo>
                  <a:pt x="2686186" y="0"/>
                </a:lnTo>
                <a:lnTo>
                  <a:pt x="2686186" y="3370900"/>
                </a:lnTo>
                <a:lnTo>
                  <a:pt x="0" y="337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90134" y="6079700"/>
            <a:ext cx="6674170" cy="19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Revisión de fallos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Refinamiento del código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Preparación de la demo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Test del código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196481" y="6457466"/>
            <a:ext cx="3352799" cy="3352799"/>
          </a:xfrm>
          <a:custGeom>
            <a:avLst/>
            <a:gdLst/>
            <a:ahLst/>
            <a:cxnLst/>
            <a:rect r="r" b="b" t="t" l="l"/>
            <a:pathLst>
              <a:path h="3352799" w="3352799">
                <a:moveTo>
                  <a:pt x="0" y="0"/>
                </a:moveTo>
                <a:lnTo>
                  <a:pt x="3352799" y="0"/>
                </a:lnTo>
                <a:lnTo>
                  <a:pt x="3352799" y="3352799"/>
                </a:lnTo>
                <a:lnTo>
                  <a:pt x="0" y="3352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2732919"/>
            <a:ext cx="1849280" cy="790147"/>
          </a:xfrm>
          <a:custGeom>
            <a:avLst/>
            <a:gdLst/>
            <a:ahLst/>
            <a:cxnLst/>
            <a:rect r="r" b="b" t="t" l="l"/>
            <a:pathLst>
              <a:path h="790147" w="1849280">
                <a:moveTo>
                  <a:pt x="0" y="0"/>
                </a:moveTo>
                <a:lnTo>
                  <a:pt x="1849280" y="0"/>
                </a:lnTo>
                <a:lnTo>
                  <a:pt x="1849280" y="790147"/>
                </a:lnTo>
                <a:lnTo>
                  <a:pt x="0" y="790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258249" y="6135354"/>
            <a:ext cx="1774730" cy="1571443"/>
          </a:xfrm>
          <a:custGeom>
            <a:avLst/>
            <a:gdLst/>
            <a:ahLst/>
            <a:cxnLst/>
            <a:rect r="r" b="b" t="t" l="l"/>
            <a:pathLst>
              <a:path h="1571443" w="1774730">
                <a:moveTo>
                  <a:pt x="0" y="0"/>
                </a:moveTo>
                <a:lnTo>
                  <a:pt x="1774731" y="0"/>
                </a:lnTo>
                <a:lnTo>
                  <a:pt x="1774731" y="1571443"/>
                </a:lnTo>
                <a:lnTo>
                  <a:pt x="0" y="15714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97594" y="257444"/>
            <a:ext cx="1305891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SPRINT PLANNING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42227" y="2570994"/>
            <a:ext cx="9815268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W</a:t>
            </a: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orking Agreement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Historias de usuario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Diseño de la estructura del proyecto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Desarrollo sin errores</a:t>
            </a:r>
          </a:p>
          <a:p>
            <a:pPr algn="l">
              <a:lnSpc>
                <a:spcPts val="40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842227" y="2040295"/>
            <a:ext cx="1065563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SPRINT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90134" y="5589521"/>
            <a:ext cx="998623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SPRINT 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31495" y="165100"/>
            <a:ext cx="1562501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DESARROLLO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21639" y="2350435"/>
            <a:ext cx="15080318" cy="316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Desarrollamos dos juegos clásicos completamente funcionales: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Piedra, Papel o Tijera, con lógica de comparación automática y conteo de rondas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Ahorcado, con selección aleatoria de palabra, validación de input y control de intentos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576558" y="8403765"/>
            <a:ext cx="762605" cy="680897"/>
          </a:xfrm>
          <a:custGeom>
            <a:avLst/>
            <a:gdLst/>
            <a:ahLst/>
            <a:cxnLst/>
            <a:rect r="r" b="b" t="t" l="l"/>
            <a:pathLst>
              <a:path h="680897" w="762605">
                <a:moveTo>
                  <a:pt x="0" y="0"/>
                </a:moveTo>
                <a:lnTo>
                  <a:pt x="762605" y="0"/>
                </a:lnTo>
                <a:lnTo>
                  <a:pt x="762605" y="680897"/>
                </a:lnTo>
                <a:lnTo>
                  <a:pt x="0" y="680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253908">
            <a:off x="260166" y="3007211"/>
            <a:ext cx="933137" cy="1170823"/>
          </a:xfrm>
          <a:custGeom>
            <a:avLst/>
            <a:gdLst/>
            <a:ahLst/>
            <a:cxnLst/>
            <a:rect r="r" b="b" t="t" l="l"/>
            <a:pathLst>
              <a:path h="1170823" w="933137">
                <a:moveTo>
                  <a:pt x="0" y="0"/>
                </a:moveTo>
                <a:lnTo>
                  <a:pt x="933137" y="0"/>
                </a:lnTo>
                <a:lnTo>
                  <a:pt x="933137" y="1170823"/>
                </a:lnTo>
                <a:lnTo>
                  <a:pt x="0" y="11708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444202">
            <a:off x="16057709" y="2598352"/>
            <a:ext cx="998413" cy="1209189"/>
          </a:xfrm>
          <a:custGeom>
            <a:avLst/>
            <a:gdLst/>
            <a:ahLst/>
            <a:cxnLst/>
            <a:rect r="r" b="b" t="t" l="l"/>
            <a:pathLst>
              <a:path h="1209189" w="998413">
                <a:moveTo>
                  <a:pt x="0" y="0"/>
                </a:moveTo>
                <a:lnTo>
                  <a:pt x="998413" y="0"/>
                </a:lnTo>
                <a:lnTo>
                  <a:pt x="998413" y="1209188"/>
                </a:lnTo>
                <a:lnTo>
                  <a:pt x="0" y="12091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21639" y="1805156"/>
            <a:ext cx="7953641" cy="42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  <a:spcBef>
                <a:spcPct val="0"/>
              </a:spcBef>
            </a:pPr>
            <a:r>
              <a:rPr lang="en-US" sz="249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SOLUCIÓN PLANTEADA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196481" y="6457466"/>
            <a:ext cx="3352799" cy="3352799"/>
          </a:xfrm>
          <a:custGeom>
            <a:avLst/>
            <a:gdLst/>
            <a:ahLst/>
            <a:cxnLst/>
            <a:rect r="r" b="b" t="t" l="l"/>
            <a:pathLst>
              <a:path h="3352799" w="3352799">
                <a:moveTo>
                  <a:pt x="0" y="0"/>
                </a:moveTo>
                <a:lnTo>
                  <a:pt x="3352799" y="0"/>
                </a:lnTo>
                <a:lnTo>
                  <a:pt x="3352799" y="3352799"/>
                </a:lnTo>
                <a:lnTo>
                  <a:pt x="0" y="33527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47850" y="6355255"/>
            <a:ext cx="13457415" cy="266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43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Divi</a:t>
            </a: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sión de tareas por historias de usuario</a:t>
            </a:r>
          </a:p>
          <a:p>
            <a:pPr algn="l" marL="431801" indent="-215900" lvl="1">
              <a:lnSpc>
                <a:spcPts val="43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Revisión continua del código</a:t>
            </a:r>
          </a:p>
          <a:p>
            <a:pPr algn="l" marL="431801" indent="-215900" lvl="1">
              <a:lnSpc>
                <a:spcPts val="43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</a:t>
            </a: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ntegración progresiva en un único repositorio</a:t>
            </a:r>
          </a:p>
          <a:p>
            <a:pPr algn="l" marL="431801" indent="-215900" lvl="1">
              <a:lnSpc>
                <a:spcPts val="43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Pair Programming</a:t>
            </a:r>
          </a:p>
          <a:p>
            <a:pPr algn="l">
              <a:lnSpc>
                <a:spcPts val="43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847850" y="6028230"/>
            <a:ext cx="562412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FORMA DE TRABAJO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96481" y="6457466"/>
            <a:ext cx="3352799" cy="3352799"/>
          </a:xfrm>
          <a:custGeom>
            <a:avLst/>
            <a:gdLst/>
            <a:ahLst/>
            <a:cxnLst/>
            <a:rect r="r" b="b" t="t" l="l"/>
            <a:pathLst>
              <a:path h="3352799" w="3352799">
                <a:moveTo>
                  <a:pt x="0" y="0"/>
                </a:moveTo>
                <a:lnTo>
                  <a:pt x="3352799" y="0"/>
                </a:lnTo>
                <a:lnTo>
                  <a:pt x="3352799" y="3352799"/>
                </a:lnTo>
                <a:lnTo>
                  <a:pt x="0" y="3352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609740">
            <a:off x="12943450" y="1681704"/>
            <a:ext cx="4737265" cy="1842848"/>
          </a:xfrm>
          <a:custGeom>
            <a:avLst/>
            <a:gdLst/>
            <a:ahLst/>
            <a:cxnLst/>
            <a:rect r="r" b="b" t="t" l="l"/>
            <a:pathLst>
              <a:path h="1842848" w="4737265">
                <a:moveTo>
                  <a:pt x="0" y="0"/>
                </a:moveTo>
                <a:lnTo>
                  <a:pt x="4737265" y="0"/>
                </a:lnTo>
                <a:lnTo>
                  <a:pt x="4737265" y="1842848"/>
                </a:lnTo>
                <a:lnTo>
                  <a:pt x="0" y="1842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242062">
            <a:off x="806458" y="7230319"/>
            <a:ext cx="4711442" cy="1854792"/>
          </a:xfrm>
          <a:custGeom>
            <a:avLst/>
            <a:gdLst/>
            <a:ahLst/>
            <a:cxnLst/>
            <a:rect r="r" b="b" t="t" l="l"/>
            <a:pathLst>
              <a:path h="1854792" w="4711442">
                <a:moveTo>
                  <a:pt x="0" y="0"/>
                </a:moveTo>
                <a:lnTo>
                  <a:pt x="4711442" y="0"/>
                </a:lnTo>
                <a:lnTo>
                  <a:pt x="4711442" y="1854792"/>
                </a:lnTo>
                <a:lnTo>
                  <a:pt x="0" y="18547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00389" y="227668"/>
            <a:ext cx="1305891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RETOS E HITOS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97594" y="2415356"/>
            <a:ext cx="10832776" cy="19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Control del flujo del while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Validación de entradas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Apariencia del tablero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</a:t>
            </a: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Control de letras repetidas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97594" y="2048212"/>
            <a:ext cx="7953641" cy="42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  <a:spcBef>
                <a:spcPct val="0"/>
              </a:spcBef>
            </a:pPr>
            <a:r>
              <a:rPr lang="en-US" sz="249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97594" y="4897606"/>
            <a:ext cx="7953641" cy="42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  <a:spcBef>
                <a:spcPct val="0"/>
              </a:spcBef>
            </a:pPr>
            <a:r>
              <a:rPr lang="en-US" sz="249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HITOS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97594" y="5264750"/>
            <a:ext cx="10832776" cy="19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Refactorización sin romper la estructura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Validaciones robustas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Ventana emergente con Tkinter</a:t>
            </a:r>
          </a:p>
          <a:p>
            <a:pPr algn="l">
              <a:lnSpc>
                <a:spcPts val="40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98938" y="355017"/>
            <a:ext cx="1029012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FUNCIONALIDADES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0682" y="1966331"/>
            <a:ext cx="9248167" cy="179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Jugador vs Máquina</a:t>
            </a:r>
          </a:p>
          <a:p>
            <a:pPr algn="l">
              <a:lnSpc>
                <a:spcPts val="360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L</a:t>
            </a: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ógica de comparación automática</a:t>
            </a:r>
          </a:p>
          <a:p>
            <a:pPr algn="l">
              <a:lnSpc>
                <a:spcPts val="360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Conteo de rondas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90682" y="1664707"/>
            <a:ext cx="636903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¡PIEDRA, PAPEL, TIJERAS!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0682" y="4753259"/>
            <a:ext cx="8078431" cy="408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1800" spc="5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</a:t>
            </a:r>
            <a:r>
              <a:rPr lang="en-US" sz="1800" spc="5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Jugador vs Máquina</a:t>
            </a:r>
          </a:p>
          <a:p>
            <a:pPr algn="l">
              <a:lnSpc>
                <a:spcPts val="3600"/>
              </a:lnSpc>
            </a:pPr>
            <a:r>
              <a:rPr lang="en-US" sz="1800" spc="5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Selección palabra </a:t>
            </a:r>
            <a:r>
              <a:rPr lang="en-US" sz="1800" spc="5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automática</a:t>
            </a:r>
          </a:p>
          <a:p>
            <a:pPr algn="l">
              <a:lnSpc>
                <a:spcPts val="3600"/>
              </a:lnSpc>
            </a:pPr>
            <a:r>
              <a:rPr lang="en-US" sz="1800" spc="5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Posibilidad de acertar                                                                 mediante letra y palabra</a:t>
            </a:r>
          </a:p>
          <a:p>
            <a:pPr algn="l">
              <a:lnSpc>
                <a:spcPts val="3600"/>
              </a:lnSpc>
            </a:pPr>
            <a:r>
              <a:rPr lang="en-US" sz="1800" spc="5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Diseño gráfico del ahorcado</a:t>
            </a:r>
          </a:p>
          <a:p>
            <a:pPr algn="l">
              <a:lnSpc>
                <a:spcPts val="3600"/>
              </a:lnSpc>
            </a:pPr>
            <a:r>
              <a:rPr lang="en-US" sz="1800" spc="5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V</a:t>
            </a:r>
            <a:r>
              <a:rPr lang="en-US" sz="1800" spc="5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alidación de input y control de intentos</a:t>
            </a:r>
          </a:p>
          <a:p>
            <a:pPr algn="l">
              <a:lnSpc>
                <a:spcPts val="3600"/>
              </a:lnSpc>
            </a:pPr>
            <a:r>
              <a:rPr lang="en-US" sz="1800" spc="5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Info del tablero y fallos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14422" y="4292336"/>
            <a:ext cx="6369032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EL AHORCADO ________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04546" y="4316784"/>
            <a:ext cx="769073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BONUS: ¡¡TRIVIAL DE PREGUNTAS DE CULTURA GENERAL!!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72509" y="8642075"/>
            <a:ext cx="30480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</a:t>
            </a: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</a:t>
            </a: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• •  y más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04546" y="5574390"/>
            <a:ext cx="6369032" cy="3424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1799" spc="48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</a:t>
            </a:r>
            <a:r>
              <a:rPr lang="en-US" sz="1799" spc="48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eguntas y respu</a:t>
            </a:r>
            <a:r>
              <a:rPr lang="en-US" sz="1799" spc="48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estas,un juego educativo para evaluar el conocimiento utilizando:</a:t>
            </a:r>
          </a:p>
          <a:p>
            <a:pPr algn="l">
              <a:lnSpc>
                <a:spcPts val="2717"/>
              </a:lnSpc>
            </a:pPr>
          </a:p>
          <a:p>
            <a:pPr algn="l" marL="388618" indent="-194309" lvl="1">
              <a:lnSpc>
                <a:spcPts val="2717"/>
              </a:lnSpc>
              <a:buFont typeface="Arial"/>
              <a:buChar char="•"/>
            </a:pPr>
            <a:r>
              <a:rPr lang="en-US" sz="1799" spc="48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</a:t>
            </a:r>
            <a:r>
              <a:rPr lang="en-US" sz="1799" spc="48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istas de diccionarios</a:t>
            </a:r>
          </a:p>
          <a:p>
            <a:pPr algn="l" marL="388618" indent="-194309" lvl="1">
              <a:lnSpc>
                <a:spcPts val="2717"/>
              </a:lnSpc>
              <a:buFont typeface="Arial"/>
              <a:buChar char="•"/>
            </a:pPr>
            <a:r>
              <a:rPr lang="en-US" sz="1799" spc="48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Bucles</a:t>
            </a:r>
          </a:p>
          <a:p>
            <a:pPr algn="l" marL="388618" indent="-194309" lvl="1">
              <a:lnSpc>
                <a:spcPts val="2717"/>
              </a:lnSpc>
              <a:buFont typeface="Arial"/>
              <a:buChar char="•"/>
            </a:pPr>
            <a:r>
              <a:rPr lang="en-US" sz="1799" spc="48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Condicionales</a:t>
            </a:r>
          </a:p>
          <a:p>
            <a:pPr algn="l" marL="388618" indent="-194309" lvl="1">
              <a:lnSpc>
                <a:spcPts val="2717"/>
              </a:lnSpc>
              <a:buFont typeface="Arial"/>
              <a:buChar char="•"/>
            </a:pPr>
            <a:r>
              <a:rPr lang="en-US" sz="1799" spc="48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Validación de entradas</a:t>
            </a:r>
          </a:p>
          <a:p>
            <a:pPr algn="l" marL="388618" indent="-194309" lvl="1">
              <a:lnSpc>
                <a:spcPts val="2717"/>
              </a:lnSpc>
              <a:buFont typeface="Arial"/>
              <a:buChar char="•"/>
            </a:pPr>
            <a:r>
              <a:rPr lang="en-US" sz="1799" spc="48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Comando ‘random’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150021">
            <a:off x="11970759" y="1750277"/>
            <a:ext cx="4636606" cy="1427829"/>
          </a:xfrm>
          <a:custGeom>
            <a:avLst/>
            <a:gdLst/>
            <a:ahLst/>
            <a:cxnLst/>
            <a:rect r="r" b="b" t="t" l="l"/>
            <a:pathLst>
              <a:path h="1427829" w="4636606">
                <a:moveTo>
                  <a:pt x="0" y="0"/>
                </a:moveTo>
                <a:lnTo>
                  <a:pt x="4636606" y="0"/>
                </a:lnTo>
                <a:lnTo>
                  <a:pt x="4636606" y="1427829"/>
                </a:lnTo>
                <a:lnTo>
                  <a:pt x="0" y="14278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158" y="6486525"/>
            <a:ext cx="2686186" cy="3370900"/>
          </a:xfrm>
          <a:custGeom>
            <a:avLst/>
            <a:gdLst/>
            <a:ahLst/>
            <a:cxnLst/>
            <a:rect r="r" b="b" t="t" l="l"/>
            <a:pathLst>
              <a:path h="3370900" w="2686186">
                <a:moveTo>
                  <a:pt x="0" y="0"/>
                </a:moveTo>
                <a:lnTo>
                  <a:pt x="2686186" y="0"/>
                </a:lnTo>
                <a:lnTo>
                  <a:pt x="2686186" y="3370900"/>
                </a:lnTo>
                <a:lnTo>
                  <a:pt x="0" y="337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97648" y="4716780"/>
            <a:ext cx="7949531" cy="454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Este proyecto nos ha permitido:</a:t>
            </a:r>
          </a:p>
          <a:p>
            <a:pPr algn="l" marL="388620" indent="-194310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Consolidar Python</a:t>
            </a:r>
          </a:p>
          <a:p>
            <a:pPr algn="l" marL="388620" indent="-194310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Trabajar con metodología Scrum</a:t>
            </a:r>
          </a:p>
          <a:p>
            <a:pPr algn="l" marL="388620" indent="-194310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Mejorar nuestra comunicación técnica</a:t>
            </a:r>
          </a:p>
          <a:p>
            <a:pPr algn="l" marL="388620" indent="-194310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Entender cómo estructurar un producto desde cero</a:t>
            </a:r>
          </a:p>
          <a:p>
            <a:pPr algn="l" marL="388620" indent="-194310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Desarrollar nuestra capacidad de trabajar como equipo técnico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196481" y="6457466"/>
            <a:ext cx="3352799" cy="3352799"/>
          </a:xfrm>
          <a:custGeom>
            <a:avLst/>
            <a:gdLst/>
            <a:ahLst/>
            <a:cxnLst/>
            <a:rect r="r" b="b" t="t" l="l"/>
            <a:pathLst>
              <a:path h="3352799" w="3352799">
                <a:moveTo>
                  <a:pt x="0" y="0"/>
                </a:moveTo>
                <a:lnTo>
                  <a:pt x="3352799" y="0"/>
                </a:lnTo>
                <a:lnTo>
                  <a:pt x="3352799" y="3352799"/>
                </a:lnTo>
                <a:lnTo>
                  <a:pt x="0" y="3352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70255" y="2440599"/>
            <a:ext cx="969796" cy="969796"/>
          </a:xfrm>
          <a:custGeom>
            <a:avLst/>
            <a:gdLst/>
            <a:ahLst/>
            <a:cxnLst/>
            <a:rect r="r" b="b" t="t" l="l"/>
            <a:pathLst>
              <a:path h="969796" w="969796">
                <a:moveTo>
                  <a:pt x="0" y="0"/>
                </a:moveTo>
                <a:lnTo>
                  <a:pt x="969796" y="0"/>
                </a:lnTo>
                <a:lnTo>
                  <a:pt x="969796" y="969796"/>
                </a:lnTo>
                <a:lnTo>
                  <a:pt x="0" y="96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967941" y="2124133"/>
            <a:ext cx="840840" cy="1842478"/>
          </a:xfrm>
          <a:custGeom>
            <a:avLst/>
            <a:gdLst/>
            <a:ahLst/>
            <a:cxnLst/>
            <a:rect r="r" b="b" t="t" l="l"/>
            <a:pathLst>
              <a:path h="1842478" w="840840">
                <a:moveTo>
                  <a:pt x="0" y="0"/>
                </a:moveTo>
                <a:lnTo>
                  <a:pt x="840840" y="0"/>
                </a:lnTo>
                <a:lnTo>
                  <a:pt x="840840" y="1842478"/>
                </a:lnTo>
                <a:lnTo>
                  <a:pt x="0" y="18424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75712" y="2268046"/>
            <a:ext cx="880166" cy="1698565"/>
          </a:xfrm>
          <a:custGeom>
            <a:avLst/>
            <a:gdLst/>
            <a:ahLst/>
            <a:cxnLst/>
            <a:rect r="r" b="b" t="t" l="l"/>
            <a:pathLst>
              <a:path h="1698565" w="880166">
                <a:moveTo>
                  <a:pt x="0" y="0"/>
                </a:moveTo>
                <a:lnTo>
                  <a:pt x="880166" y="0"/>
                </a:lnTo>
                <a:lnTo>
                  <a:pt x="880166" y="1698565"/>
                </a:lnTo>
                <a:lnTo>
                  <a:pt x="0" y="16985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584488">
            <a:off x="11806493" y="2632431"/>
            <a:ext cx="969796" cy="969796"/>
          </a:xfrm>
          <a:custGeom>
            <a:avLst/>
            <a:gdLst/>
            <a:ahLst/>
            <a:cxnLst/>
            <a:rect r="r" b="b" t="t" l="l"/>
            <a:pathLst>
              <a:path h="969796" w="969796">
                <a:moveTo>
                  <a:pt x="0" y="0"/>
                </a:moveTo>
                <a:lnTo>
                  <a:pt x="969795" y="0"/>
                </a:lnTo>
                <a:lnTo>
                  <a:pt x="969795" y="969796"/>
                </a:lnTo>
                <a:lnTo>
                  <a:pt x="0" y="96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043483">
            <a:off x="4046056" y="6460723"/>
            <a:ext cx="2010613" cy="1312382"/>
          </a:xfrm>
          <a:custGeom>
            <a:avLst/>
            <a:gdLst/>
            <a:ahLst/>
            <a:cxnLst/>
            <a:rect r="r" b="b" t="t" l="l"/>
            <a:pathLst>
              <a:path h="1312382" w="2010613">
                <a:moveTo>
                  <a:pt x="0" y="0"/>
                </a:moveTo>
                <a:lnTo>
                  <a:pt x="2010613" y="0"/>
                </a:lnTo>
                <a:lnTo>
                  <a:pt x="2010613" y="1312383"/>
                </a:lnTo>
                <a:lnTo>
                  <a:pt x="0" y="1312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88950" y="323649"/>
            <a:ext cx="1602851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NEXT STEPS - CONCLUSIONES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8950" y="1980247"/>
            <a:ext cx="7296266" cy="271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Posibles mejoras futuras:</a:t>
            </a:r>
          </a:p>
          <a:p>
            <a:pPr algn="l" marL="388620" indent="-194310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Modo multijugador</a:t>
            </a:r>
          </a:p>
          <a:p>
            <a:pPr algn="l" marL="388620" indent="-194310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Niveles de dificultad</a:t>
            </a:r>
          </a:p>
          <a:p>
            <a:pPr algn="l" marL="388620" indent="-194310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Interfaz gráfica</a:t>
            </a:r>
          </a:p>
          <a:p>
            <a:pPr algn="l" marL="388620" indent="-194310" lvl="1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Ranking de puntuaciones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88950" y="1607185"/>
            <a:ext cx="398737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NEXT STEPS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732923" y="4343718"/>
            <a:ext cx="398737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CONCLUSIONES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49853" y="7469195"/>
            <a:ext cx="1542044" cy="2029005"/>
          </a:xfrm>
          <a:custGeom>
            <a:avLst/>
            <a:gdLst/>
            <a:ahLst/>
            <a:cxnLst/>
            <a:rect r="r" b="b" t="t" l="l"/>
            <a:pathLst>
              <a:path h="2029005" w="1542044">
                <a:moveTo>
                  <a:pt x="0" y="0"/>
                </a:moveTo>
                <a:lnTo>
                  <a:pt x="1542044" y="0"/>
                </a:lnTo>
                <a:lnTo>
                  <a:pt x="1542044" y="2029005"/>
                </a:lnTo>
                <a:lnTo>
                  <a:pt x="0" y="2029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96481" y="6457466"/>
            <a:ext cx="3352799" cy="3352799"/>
          </a:xfrm>
          <a:custGeom>
            <a:avLst/>
            <a:gdLst/>
            <a:ahLst/>
            <a:cxnLst/>
            <a:rect r="r" b="b" t="t" l="l"/>
            <a:pathLst>
              <a:path h="3352799" w="3352799">
                <a:moveTo>
                  <a:pt x="0" y="0"/>
                </a:moveTo>
                <a:lnTo>
                  <a:pt x="3352799" y="0"/>
                </a:lnTo>
                <a:lnTo>
                  <a:pt x="3352799" y="3352799"/>
                </a:lnTo>
                <a:lnTo>
                  <a:pt x="0" y="335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90916" y="5804579"/>
            <a:ext cx="4906168" cy="2078431"/>
          </a:xfrm>
          <a:custGeom>
            <a:avLst/>
            <a:gdLst/>
            <a:ahLst/>
            <a:cxnLst/>
            <a:rect r="r" b="b" t="t" l="l"/>
            <a:pathLst>
              <a:path h="2078431" w="4906168">
                <a:moveTo>
                  <a:pt x="0" y="0"/>
                </a:moveTo>
                <a:lnTo>
                  <a:pt x="4906168" y="0"/>
                </a:lnTo>
                <a:lnTo>
                  <a:pt x="4906168" y="2078431"/>
                </a:lnTo>
                <a:lnTo>
                  <a:pt x="0" y="20784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4983" y="7674743"/>
            <a:ext cx="840840" cy="1842478"/>
          </a:xfrm>
          <a:custGeom>
            <a:avLst/>
            <a:gdLst/>
            <a:ahLst/>
            <a:cxnLst/>
            <a:rect r="r" b="b" t="t" l="l"/>
            <a:pathLst>
              <a:path h="1842478" w="840840">
                <a:moveTo>
                  <a:pt x="0" y="0"/>
                </a:moveTo>
                <a:lnTo>
                  <a:pt x="840840" y="0"/>
                </a:lnTo>
                <a:lnTo>
                  <a:pt x="840840" y="1842478"/>
                </a:lnTo>
                <a:lnTo>
                  <a:pt x="0" y="18424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45823" y="7741021"/>
            <a:ext cx="936097" cy="1757179"/>
          </a:xfrm>
          <a:custGeom>
            <a:avLst/>
            <a:gdLst/>
            <a:ahLst/>
            <a:cxnLst/>
            <a:rect r="r" b="b" t="t" l="l"/>
            <a:pathLst>
              <a:path h="1757179" w="936097">
                <a:moveTo>
                  <a:pt x="0" y="0"/>
                </a:moveTo>
                <a:lnTo>
                  <a:pt x="936097" y="0"/>
                </a:lnTo>
                <a:lnTo>
                  <a:pt x="936097" y="1757179"/>
                </a:lnTo>
                <a:lnTo>
                  <a:pt x="0" y="17571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7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52759" y="7686052"/>
            <a:ext cx="982276" cy="1800840"/>
          </a:xfrm>
          <a:custGeom>
            <a:avLst/>
            <a:gdLst/>
            <a:ahLst/>
            <a:cxnLst/>
            <a:rect r="r" b="b" t="t" l="l"/>
            <a:pathLst>
              <a:path h="1800840" w="982276">
                <a:moveTo>
                  <a:pt x="0" y="0"/>
                </a:moveTo>
                <a:lnTo>
                  <a:pt x="982276" y="0"/>
                </a:lnTo>
                <a:lnTo>
                  <a:pt x="982276" y="1800839"/>
                </a:lnTo>
                <a:lnTo>
                  <a:pt x="0" y="180083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75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1704" y="7674743"/>
            <a:ext cx="852052" cy="1823457"/>
          </a:xfrm>
          <a:custGeom>
            <a:avLst/>
            <a:gdLst/>
            <a:ahLst/>
            <a:cxnLst/>
            <a:rect r="r" b="b" t="t" l="l"/>
            <a:pathLst>
              <a:path h="1823457" w="852052">
                <a:moveTo>
                  <a:pt x="0" y="0"/>
                </a:moveTo>
                <a:lnTo>
                  <a:pt x="852051" y="0"/>
                </a:lnTo>
                <a:lnTo>
                  <a:pt x="852051" y="1823457"/>
                </a:lnTo>
                <a:lnTo>
                  <a:pt x="0" y="18234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75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081920" y="7614834"/>
            <a:ext cx="823215" cy="1902387"/>
          </a:xfrm>
          <a:custGeom>
            <a:avLst/>
            <a:gdLst/>
            <a:ahLst/>
            <a:cxnLst/>
            <a:rect r="r" b="b" t="t" l="l"/>
            <a:pathLst>
              <a:path h="1902387" w="823215">
                <a:moveTo>
                  <a:pt x="0" y="0"/>
                </a:moveTo>
                <a:lnTo>
                  <a:pt x="823214" y="0"/>
                </a:lnTo>
                <a:lnTo>
                  <a:pt x="823214" y="1902387"/>
                </a:lnTo>
                <a:lnTo>
                  <a:pt x="0" y="190238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75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667125" y="1295659"/>
            <a:ext cx="10953750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40"/>
              </a:lnSpc>
            </a:pPr>
            <a:r>
              <a:rPr lang="en-US" sz="12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DAHBMcreIqA</dc:identifier>
  <dcterms:modified xsi:type="dcterms:W3CDTF">2011-08-01T06:04:30Z</dcterms:modified>
  <cp:revision>1</cp:revision>
  <dc:title>ALANA TECH</dc:title>
</cp:coreProperties>
</file>